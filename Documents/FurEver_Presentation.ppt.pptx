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4"/>
  </p:sldMasterIdLst>
  <p:sldIdLst>
    <p:sldId id="257" r:id="rId5"/>
    <p:sldId id="258" r:id="rId6"/>
    <p:sldId id="295" r:id="rId7"/>
    <p:sldId id="263" r:id="rId8"/>
    <p:sldId id="265" r:id="rId9"/>
    <p:sldId id="297" r:id="rId10"/>
    <p:sldId id="298" r:id="rId11"/>
    <p:sldId id="273" r:id="rId12"/>
    <p:sldId id="278" r:id="rId13"/>
    <p:sldId id="281" r:id="rId14"/>
    <p:sldId id="280" r:id="rId15"/>
    <p:sldId id="279" r:id="rId16"/>
    <p:sldId id="282" r:id="rId17"/>
    <p:sldId id="283" r:id="rId18"/>
    <p:sldId id="296" r:id="rId19"/>
    <p:sldId id="291" r:id="rId20"/>
    <p:sldId id="289" r:id="rId21"/>
    <p:sldId id="290" r:id="rId22"/>
    <p:sldId id="270"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1EFAEAD-890E-48E4-AF3D-3EECF2B23C71}">
          <p14:sldIdLst>
            <p14:sldId id="257"/>
            <p14:sldId id="258"/>
            <p14:sldId id="295"/>
            <p14:sldId id="263"/>
            <p14:sldId id="265"/>
            <p14:sldId id="297"/>
            <p14:sldId id="298"/>
            <p14:sldId id="273"/>
            <p14:sldId id="278"/>
            <p14:sldId id="281"/>
            <p14:sldId id="280"/>
            <p14:sldId id="279"/>
          </p14:sldIdLst>
        </p14:section>
        <p14:section name="Untitled Section" id="{D4C4B544-6346-4703-A6F6-AB3786328271}">
          <p14:sldIdLst>
            <p14:sldId id="282"/>
            <p14:sldId id="283"/>
            <p14:sldId id="296"/>
            <p14:sldId id="291"/>
            <p14:sldId id="289"/>
            <p14:sldId id="290"/>
            <p14:sldId id="27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D12097-8C9D-45D9-B91E-C2DDF1C7B667}" v="20" dt="2025-09-05T18:31:22.5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84DA70-C731-4C70-880D-CCD4705E623C}" type="datetime1">
              <a:rPr lang="en-US" smtClean="0"/>
              <a:pPr/>
              <a:t>1/10/2026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74041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78174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7514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pPr/>
              <a:t>1/10/2026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659729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pPr/>
              <a:t>1/10/2026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26659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pPr/>
              <a:t>1/10/2026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193393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pPr/>
              <a:t>1/10/2026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4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pPr/>
              <a:t>1/10/2026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77772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pPr/>
              <a:t>1/10/2026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83471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pPr/>
              <a:t>1/10/2026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8593240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1651008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364646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7533613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38204108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7199520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600442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pPr/>
              <a:t>1/10/2026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208810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D6E202-B606-4609-B914-27C9371A1F6D}" type="datetime1">
              <a:rPr lang="en-US" smtClean="0"/>
              <a:pPr/>
              <a:t>1/10/2026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59404048"/>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2118689" y="2030415"/>
            <a:ext cx="7289616" cy="1021496"/>
          </a:xfrm>
        </p:spPr>
        <p:txBody>
          <a:bodyPr>
            <a:normAutofit fontScale="90000"/>
          </a:bodyPr>
          <a:lstStyle/>
          <a:p>
            <a:pPr algn="ctr"/>
            <a:r>
              <a:rPr lang="en-US" sz="3000" b="1" dirty="0">
                <a:latin typeface="Arial" panose="020B0604020202020204" pitchFamily="34" charset="0"/>
                <a:cs typeface="Arial" panose="020B0604020202020204" pitchFamily="34" charset="0"/>
              </a:rPr>
              <a:t>PROJECT TITLE</a:t>
            </a:r>
            <a:br>
              <a:rPr lang="en-US" sz="3000" dirty="0">
                <a:latin typeface="Arial" panose="020B0604020202020204" pitchFamily="34" charset="0"/>
                <a:cs typeface="Arial" panose="020B0604020202020204" pitchFamily="34" charset="0"/>
              </a:rPr>
            </a:br>
            <a:br>
              <a:rPr lang="en-US" sz="3000" dirty="0">
                <a:latin typeface="Arial" panose="020B0604020202020204" pitchFamily="34" charset="0"/>
                <a:cs typeface="Arial" panose="020B0604020202020204" pitchFamily="34" charset="0"/>
              </a:rPr>
            </a:br>
            <a:r>
              <a:rPr lang="en-US" sz="2700" b="1" dirty="0">
                <a:latin typeface="Arial" panose="020B0604020202020204" pitchFamily="34" charset="0"/>
                <a:cs typeface="Arial" panose="020B0604020202020204" pitchFamily="34" charset="0"/>
              </a:rPr>
              <a:t>FUREVERHOME – A PET ADOPTION WEBSITE </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4406900" y="3496473"/>
            <a:ext cx="7625945" cy="2041547"/>
          </a:xfrm>
        </p:spPr>
        <p:txBody>
          <a:bodyPr>
            <a:normAutofit fontScale="92500" lnSpcReduction="10000"/>
          </a:bodyPr>
          <a:lstStyle/>
          <a:p>
            <a:pPr algn="l"/>
            <a:r>
              <a:rPr lang="en-US" sz="2400" dirty="0">
                <a:solidFill>
                  <a:schemeClr val="tx1">
                    <a:lumMod val="85000"/>
                    <a:lumOff val="15000"/>
                  </a:schemeClr>
                </a:solidFill>
                <a:latin typeface="Arial" panose="020B0604020202020204" pitchFamily="34" charset="0"/>
                <a:cs typeface="Arial" panose="020B0604020202020204" pitchFamily="34" charset="0"/>
              </a:rPr>
              <a:t>Prepared by:</a:t>
            </a:r>
          </a:p>
          <a:p>
            <a:pPr algn="l">
              <a:spcBef>
                <a:spcPts val="0"/>
              </a:spcBef>
              <a:spcAft>
                <a:spcPts val="0"/>
              </a:spcAft>
            </a:pPr>
            <a:r>
              <a:rPr lang="en-US" sz="2400" dirty="0">
                <a:solidFill>
                  <a:schemeClr val="tx1">
                    <a:lumMod val="85000"/>
                    <a:lumOff val="15000"/>
                  </a:schemeClr>
                </a:solidFill>
                <a:latin typeface="Arial" panose="020B0604020202020204" pitchFamily="34" charset="0"/>
                <a:cs typeface="Arial" panose="020B0604020202020204" pitchFamily="34" charset="0"/>
              </a:rPr>
              <a:t>PARTHRAJSINH JADEJA : 92300938082</a:t>
            </a:r>
          </a:p>
          <a:p>
            <a:pPr algn="l">
              <a:spcBef>
                <a:spcPts val="0"/>
              </a:spcBef>
              <a:spcAft>
                <a:spcPts val="0"/>
              </a:spcAft>
            </a:pPr>
            <a:r>
              <a:rPr lang="en-US" sz="2400" dirty="0">
                <a:solidFill>
                  <a:schemeClr val="tx1">
                    <a:lumMod val="85000"/>
                    <a:lumOff val="15000"/>
                  </a:schemeClr>
                </a:solidFill>
                <a:latin typeface="Arial" panose="020B0604020202020204" pitchFamily="34" charset="0"/>
                <a:cs typeface="Arial" panose="020B0604020202020204" pitchFamily="34" charset="0"/>
              </a:rPr>
              <a:t>YUG SAMANI : 92300938110</a:t>
            </a:r>
          </a:p>
          <a:p>
            <a:pPr algn="l">
              <a:spcBef>
                <a:spcPts val="0"/>
              </a:spcBef>
              <a:spcAft>
                <a:spcPts val="0"/>
              </a:spcAft>
            </a:pPr>
            <a:r>
              <a:rPr lang="en-US" sz="2400" dirty="0">
                <a:solidFill>
                  <a:schemeClr val="tx1">
                    <a:lumMod val="85000"/>
                    <a:lumOff val="15000"/>
                  </a:schemeClr>
                </a:solidFill>
                <a:latin typeface="Arial" panose="020B0604020202020204" pitchFamily="34" charset="0"/>
                <a:cs typeface="Arial" panose="020B0604020202020204" pitchFamily="34" charset="0"/>
              </a:rPr>
              <a:t>RAJDEEP SISODIYA : 92300938113</a:t>
            </a:r>
          </a:p>
          <a:p>
            <a:pPr algn="l">
              <a:spcBef>
                <a:spcPts val="0"/>
              </a:spcBef>
              <a:spcAft>
                <a:spcPts val="0"/>
              </a:spcAft>
            </a:pPr>
            <a:r>
              <a:rPr lang="en-US" sz="2400" dirty="0">
                <a:solidFill>
                  <a:schemeClr val="tx1">
                    <a:lumMod val="85000"/>
                    <a:lumOff val="15000"/>
                  </a:schemeClr>
                </a:solidFill>
                <a:latin typeface="Arial" panose="020B0604020202020204" pitchFamily="34" charset="0"/>
                <a:cs typeface="Arial" panose="020B0604020202020204" pitchFamily="34" charset="0"/>
              </a:rPr>
              <a:t>MANTHAN MEHTA : 92300938114</a:t>
            </a:r>
          </a:p>
          <a:p>
            <a:pPr algn="l">
              <a:spcBef>
                <a:spcPts val="0"/>
              </a:spcBef>
              <a:spcAft>
                <a:spcPts val="0"/>
              </a:spcAft>
            </a:pPr>
            <a:r>
              <a:rPr lang="en-US" sz="2400" dirty="0">
                <a:solidFill>
                  <a:schemeClr val="tx1">
                    <a:lumMod val="85000"/>
                    <a:lumOff val="15000"/>
                  </a:schemeClr>
                </a:solidFill>
                <a:latin typeface="Arial" panose="020B0604020202020204" pitchFamily="34" charset="0"/>
                <a:cs typeface="Arial" panose="020B0604020202020204" pitchFamily="34" charset="0"/>
              </a:rPr>
              <a:t>KRINAL KARIYA : 92300938122</a:t>
            </a:r>
          </a:p>
        </p:txBody>
      </p:sp>
      <p:pic>
        <p:nvPicPr>
          <p:cNvPr id="9" name="Picture 8">
            <a:extLst>
              <a:ext uri="{FF2B5EF4-FFF2-40B4-BE49-F238E27FC236}">
                <a16:creationId xmlns:a16="http://schemas.microsoft.com/office/drawing/2014/main" id="{112210B8-E388-E00E-99BB-73CA2FA9C21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821" y="192803"/>
            <a:ext cx="3740398" cy="1285122"/>
          </a:xfrm>
          <a:prstGeom prst="rect">
            <a:avLst/>
          </a:prstGeom>
          <a:noFill/>
          <a:ln>
            <a:noFill/>
          </a:ln>
        </p:spPr>
      </p:pic>
      <p:sp>
        <p:nvSpPr>
          <p:cNvPr id="11" name="TextBox 10">
            <a:extLst>
              <a:ext uri="{FF2B5EF4-FFF2-40B4-BE49-F238E27FC236}">
                <a16:creationId xmlns:a16="http://schemas.microsoft.com/office/drawing/2014/main" id="{778097D5-0EE3-0B79-8A75-E31F5A9D6DD1}"/>
              </a:ext>
            </a:extLst>
          </p:cNvPr>
          <p:cNvSpPr txBox="1"/>
          <p:nvPr/>
        </p:nvSpPr>
        <p:spPr>
          <a:xfrm>
            <a:off x="6499552" y="129044"/>
            <a:ext cx="5613627" cy="1456809"/>
          </a:xfrm>
          <a:prstGeom prst="rect">
            <a:avLst/>
          </a:prstGeom>
          <a:noFill/>
        </p:spPr>
        <p:txBody>
          <a:bodyPr wrap="square">
            <a:spAutoFit/>
          </a:bodyPr>
          <a:lstStyle/>
          <a:p>
            <a:pPr algn="r" rtl="0">
              <a:spcBef>
                <a:spcPts val="1000"/>
              </a:spcBef>
              <a:buNone/>
            </a:pPr>
            <a:br>
              <a:rPr lang="en-US" b="0" dirty="0">
                <a:effectLst/>
                <a:latin typeface="Arial" panose="020B0604020202020204" pitchFamily="34" charset="0"/>
                <a:cs typeface="Arial" panose="020B0604020202020204" pitchFamily="34" charset="0"/>
              </a:rPr>
            </a:br>
            <a:r>
              <a:rPr lang="en-US" sz="1800" b="1" i="0" u="none" strike="noStrike" dirty="0">
                <a:solidFill>
                  <a:srgbClr val="000000"/>
                </a:solidFill>
                <a:effectLst/>
                <a:latin typeface="Arial" panose="020B0604020202020204" pitchFamily="34" charset="0"/>
                <a:cs typeface="Arial" panose="020B0604020202020204" pitchFamily="34" charset="0"/>
              </a:rPr>
              <a:t>MARWADI UNIVERSITY </a:t>
            </a:r>
            <a:endParaRPr lang="en-US" b="0" dirty="0">
              <a:effectLst/>
              <a:latin typeface="Arial" panose="020B0604020202020204" pitchFamily="34" charset="0"/>
              <a:cs typeface="Arial" panose="020B0604020202020204" pitchFamily="34" charset="0"/>
            </a:endParaRPr>
          </a:p>
          <a:p>
            <a:pPr algn="r" rtl="0">
              <a:spcBef>
                <a:spcPts val="1000"/>
              </a:spcBef>
              <a:buNone/>
            </a:pPr>
            <a:r>
              <a:rPr lang="en-US" sz="1800" b="1" i="0" u="none" strike="noStrike" dirty="0">
                <a:solidFill>
                  <a:srgbClr val="000000"/>
                </a:solidFill>
                <a:effectLst/>
                <a:latin typeface="Arial" panose="020B0604020202020204" pitchFamily="34" charset="0"/>
                <a:cs typeface="Arial" panose="020B0604020202020204" pitchFamily="34" charset="0"/>
              </a:rPr>
              <a:t>FACULTY OF DIPLOMA STUDIES</a:t>
            </a:r>
            <a:endParaRPr lang="en-US" b="0" dirty="0">
              <a:effectLst/>
              <a:latin typeface="Arial" panose="020B0604020202020204" pitchFamily="34" charset="0"/>
              <a:cs typeface="Arial" panose="020B0604020202020204" pitchFamily="34" charset="0"/>
            </a:endParaRPr>
          </a:p>
          <a:p>
            <a:pPr algn="r" rtl="0">
              <a:spcBef>
                <a:spcPts val="1000"/>
              </a:spcBef>
              <a:buNone/>
            </a:pPr>
            <a:r>
              <a:rPr lang="en-US" sz="1800" b="1" i="0" u="none" strike="noStrike" dirty="0">
                <a:solidFill>
                  <a:srgbClr val="000000"/>
                </a:solidFill>
                <a:effectLst/>
                <a:latin typeface="Arial" panose="020B0604020202020204" pitchFamily="34" charset="0"/>
                <a:cs typeface="Arial" panose="020B0604020202020204" pitchFamily="34" charset="0"/>
              </a:rPr>
              <a:t>COMPUTER ENGINEERING DEPARTMENT</a:t>
            </a:r>
            <a:endParaRPr lang="en-US" b="0" dirty="0">
              <a:effectLst/>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B6BB85F-6B0F-37E4-8B35-D3B55ECDE84A}"/>
              </a:ext>
            </a:extLst>
          </p:cNvPr>
          <p:cNvSpPr txBox="1"/>
          <p:nvPr/>
        </p:nvSpPr>
        <p:spPr>
          <a:xfrm>
            <a:off x="0" y="4903892"/>
            <a:ext cx="3740398" cy="774571"/>
          </a:xfrm>
          <a:prstGeom prst="rect">
            <a:avLst/>
          </a:prstGeom>
          <a:noFill/>
        </p:spPr>
        <p:txBody>
          <a:bodyPr wrap="square">
            <a:spAutoFit/>
          </a:bodyPr>
          <a:lstStyle/>
          <a:p>
            <a:pPr rtl="0">
              <a:spcBef>
                <a:spcPts val="1000"/>
              </a:spcBef>
              <a:buNone/>
            </a:pPr>
            <a:r>
              <a:rPr lang="en-US" b="1" dirty="0">
                <a:solidFill>
                  <a:srgbClr val="000000"/>
                </a:solidFill>
                <a:latin typeface="Arial" panose="020B0604020202020204" pitchFamily="34" charset="0"/>
              </a:rPr>
              <a:t>SEMESTER : </a:t>
            </a:r>
            <a:r>
              <a:rPr lang="en-US" sz="1800" b="1" i="0" u="none" strike="noStrike" dirty="0">
                <a:solidFill>
                  <a:srgbClr val="000000"/>
                </a:solidFill>
                <a:effectLst/>
                <a:latin typeface="Arial" panose="020B0604020202020204" pitchFamily="34" charset="0"/>
              </a:rPr>
              <a:t> 6      </a:t>
            </a:r>
            <a:endParaRPr lang="en-US" b="0" dirty="0">
              <a:effectLst/>
            </a:endParaRPr>
          </a:p>
          <a:p>
            <a:pPr rtl="0">
              <a:spcBef>
                <a:spcPts val="1000"/>
              </a:spcBef>
              <a:buNone/>
            </a:pPr>
            <a:r>
              <a:rPr lang="en-US" sz="1800" b="1" i="0" u="none" strike="noStrike" dirty="0">
                <a:solidFill>
                  <a:srgbClr val="000000"/>
                </a:solidFill>
                <a:effectLst/>
                <a:latin typeface="Arial" panose="020B0604020202020204" pitchFamily="34" charset="0"/>
              </a:rPr>
              <a:t>Project Review - 4</a:t>
            </a:r>
            <a:endParaRPr lang="en-US" b="0" dirty="0">
              <a:effectLst/>
            </a:endParaRPr>
          </a:p>
        </p:txBody>
      </p:sp>
      <p:sp>
        <p:nvSpPr>
          <p:cNvPr id="15" name="TextBox 14">
            <a:extLst>
              <a:ext uri="{FF2B5EF4-FFF2-40B4-BE49-F238E27FC236}">
                <a16:creationId xmlns:a16="http://schemas.microsoft.com/office/drawing/2014/main" id="{EE8700FD-109C-DE26-C363-A75C144BD4F6}"/>
              </a:ext>
            </a:extLst>
          </p:cNvPr>
          <p:cNvSpPr txBox="1"/>
          <p:nvPr/>
        </p:nvSpPr>
        <p:spPr>
          <a:xfrm>
            <a:off x="5763497" y="5529431"/>
            <a:ext cx="3848335" cy="836126"/>
          </a:xfrm>
          <a:prstGeom prst="rect">
            <a:avLst/>
          </a:prstGeom>
          <a:noFill/>
        </p:spPr>
        <p:txBody>
          <a:bodyPr wrap="square">
            <a:spAutoFit/>
          </a:bodyPr>
          <a:lstStyle/>
          <a:p>
            <a:pPr rtl="0">
              <a:spcBef>
                <a:spcPts val="1000"/>
              </a:spcBef>
              <a:buNone/>
            </a:pPr>
            <a:r>
              <a:rPr lang="en-US" sz="2000" b="1" i="0" u="none" strike="noStrike" dirty="0">
                <a:solidFill>
                  <a:srgbClr val="000000"/>
                </a:solidFill>
                <a:effectLst/>
                <a:latin typeface="Arial" panose="020B0604020202020204" pitchFamily="34" charset="0"/>
                <a:cs typeface="Arial" panose="020B0604020202020204" pitchFamily="34" charset="0"/>
              </a:rPr>
              <a:t>Guided by:</a:t>
            </a:r>
          </a:p>
          <a:p>
            <a:pPr rtl="0">
              <a:spcBef>
                <a:spcPts val="1000"/>
              </a:spcBef>
              <a:buNone/>
            </a:pPr>
            <a:r>
              <a:rPr lang="en-US" sz="2000" b="1" dirty="0">
                <a:solidFill>
                  <a:srgbClr val="000000"/>
                </a:solidFill>
                <a:latin typeface="Arial" panose="020B0604020202020204" pitchFamily="34" charset="0"/>
                <a:cs typeface="Arial" panose="020B0604020202020204" pitchFamily="34" charset="0"/>
              </a:rPr>
              <a:t>PROF.TWINKAL CHAVDA </a:t>
            </a:r>
            <a:endParaRPr lang="en-US" sz="2000" b="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F07B606-6BB6-73D0-E404-36C014E2F580}"/>
              </a:ext>
            </a:extLst>
          </p:cNvPr>
          <p:cNvSpPr txBox="1"/>
          <p:nvPr/>
        </p:nvSpPr>
        <p:spPr>
          <a:xfrm>
            <a:off x="4916670" y="1911674"/>
            <a:ext cx="7275330" cy="3016210"/>
          </a:xfrm>
          <a:prstGeom prst="rect">
            <a:avLst/>
          </a:prstGeom>
          <a:noFill/>
        </p:spPr>
        <p:txBody>
          <a:bodyPr wrap="square">
            <a:spAutoFit/>
          </a:bodyPr>
          <a:lstStyle/>
          <a:p>
            <a:endParaRPr lang="en-US" dirty="0"/>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Acknowledgement</a:t>
            </a:r>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Aim / Objectives</a:t>
            </a:r>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Problems</a:t>
            </a:r>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Methods</a:t>
            </a:r>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Results</a:t>
            </a:r>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System Design(Diagrams) </a:t>
            </a:r>
          </a:p>
          <a:p>
            <a:pPr marL="342900" indent="-342900">
              <a:buFont typeface="Wingdings" panose="05000000000000000000" pitchFamily="2" charset="2"/>
              <a:buChar char="Ø"/>
            </a:pPr>
            <a:r>
              <a:rPr lang="en-US" sz="2200" dirty="0">
                <a:latin typeface="Arial" panose="020B0604020202020204" pitchFamily="34" charset="0"/>
                <a:cs typeface="Arial" panose="020B0604020202020204" pitchFamily="34" charset="0"/>
              </a:rPr>
              <a:t>Conclusion</a:t>
            </a:r>
          </a:p>
          <a:p>
            <a:endParaRPr lang="en-US" dirty="0"/>
          </a:p>
        </p:txBody>
      </p:sp>
      <p:sp>
        <p:nvSpPr>
          <p:cNvPr id="11" name="TextBox 10">
            <a:extLst>
              <a:ext uri="{FF2B5EF4-FFF2-40B4-BE49-F238E27FC236}">
                <a16:creationId xmlns:a16="http://schemas.microsoft.com/office/drawing/2014/main" id="{F4B69CF7-A9FC-1123-51F1-88D0361E0A2C}"/>
              </a:ext>
            </a:extLst>
          </p:cNvPr>
          <p:cNvSpPr txBox="1"/>
          <p:nvPr/>
        </p:nvSpPr>
        <p:spPr>
          <a:xfrm>
            <a:off x="3676207" y="937069"/>
            <a:ext cx="6097772" cy="523220"/>
          </a:xfrm>
          <a:prstGeom prst="rect">
            <a:avLst/>
          </a:prstGeom>
          <a:noFill/>
        </p:spPr>
        <p:txBody>
          <a:bodyPr wrap="square">
            <a:spAutoFit/>
          </a:bodyPr>
          <a:lstStyle/>
          <a:p>
            <a:pPr algn="ctr"/>
            <a:r>
              <a:rPr lang="en-US" sz="2800" dirty="0">
                <a:latin typeface="Arial" panose="020B0604020202020204" pitchFamily="34" charset="0"/>
                <a:cs typeface="Arial" panose="020B0604020202020204" pitchFamily="34" charset="0"/>
              </a:rPr>
              <a:t>CONTENT</a:t>
            </a: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FE286-5B26-51A5-AE70-E809D6A5234C}"/>
              </a:ext>
            </a:extLst>
          </p:cNvPr>
          <p:cNvSpPr>
            <a:spLocks noGrp="1"/>
          </p:cNvSpPr>
          <p:nvPr>
            <p:ph type="title"/>
          </p:nvPr>
        </p:nvSpPr>
        <p:spPr>
          <a:xfrm>
            <a:off x="1616391" y="55881"/>
            <a:ext cx="10018713" cy="1752599"/>
          </a:xfrm>
        </p:spPr>
        <p:txBody>
          <a:bodyPr>
            <a:normAutofit/>
          </a:bodyPr>
          <a:lstStyle/>
          <a:p>
            <a:r>
              <a:rPr lang="en-US" sz="2800" b="1" dirty="0"/>
              <a:t>Acknowledgment</a:t>
            </a:r>
            <a:endParaRPr lang="en-IN" sz="2800" b="1" dirty="0"/>
          </a:p>
        </p:txBody>
      </p:sp>
      <p:sp>
        <p:nvSpPr>
          <p:cNvPr id="3" name="Content Placeholder 2">
            <a:extLst>
              <a:ext uri="{FF2B5EF4-FFF2-40B4-BE49-F238E27FC236}">
                <a16:creationId xmlns:a16="http://schemas.microsoft.com/office/drawing/2014/main" id="{BC5717E5-1477-DD0B-2F56-0F384D31DA34}"/>
              </a:ext>
            </a:extLst>
          </p:cNvPr>
          <p:cNvSpPr>
            <a:spLocks noGrp="1"/>
          </p:cNvSpPr>
          <p:nvPr>
            <p:ph idx="1"/>
          </p:nvPr>
        </p:nvSpPr>
        <p:spPr>
          <a:xfrm>
            <a:off x="1889760" y="1808480"/>
            <a:ext cx="9895840" cy="5161279"/>
          </a:xfrm>
        </p:spPr>
        <p:txBody>
          <a:bodyPr>
            <a:normAutofit/>
          </a:bodyPr>
          <a:lstStyle/>
          <a:p>
            <a:pPr algn="just"/>
            <a:r>
              <a:rPr lang="en-US" dirty="0">
                <a:latin typeface="Arial" panose="020B0604020202020204" pitchFamily="34" charset="0"/>
                <a:cs typeface="Arial" panose="020B0604020202020204" pitchFamily="34" charset="0"/>
              </a:rPr>
              <a:t>We would like to extend our sincere gratitude to </a:t>
            </a:r>
            <a:r>
              <a:rPr lang="en-US" b="1" dirty="0">
                <a:latin typeface="Arial" panose="020B0604020202020204" pitchFamily="34" charset="0"/>
                <a:cs typeface="Arial" panose="020B0604020202020204" pitchFamily="34" charset="0"/>
              </a:rPr>
              <a:t>Prof. </a:t>
            </a:r>
            <a:r>
              <a:rPr lang="en-US" b="1" dirty="0" err="1">
                <a:latin typeface="Arial" panose="020B0604020202020204" pitchFamily="34" charset="0"/>
                <a:cs typeface="Arial" panose="020B0604020202020204" pitchFamily="34" charset="0"/>
              </a:rPr>
              <a:t>Twinkal</a:t>
            </a:r>
            <a:r>
              <a:rPr lang="en-US" b="1" dirty="0">
                <a:latin typeface="Arial" panose="020B0604020202020204" pitchFamily="34" charset="0"/>
                <a:cs typeface="Arial" panose="020B0604020202020204" pitchFamily="34" charset="0"/>
              </a:rPr>
              <a:t> Chavda</a:t>
            </a:r>
            <a:r>
              <a:rPr lang="en-US" dirty="0">
                <a:latin typeface="Arial" panose="020B0604020202020204" pitchFamily="34" charset="0"/>
                <a:cs typeface="Arial" panose="020B0604020202020204" pitchFamily="34" charset="0"/>
              </a:rPr>
              <a:t>, our project guide, for her constant support, valuable insights, and expert guidance throughout the development of our project, </a:t>
            </a:r>
            <a:r>
              <a:rPr lang="en-US" dirty="0" err="1">
                <a:latin typeface="Arial" panose="020B0604020202020204" pitchFamily="34" charset="0"/>
                <a:cs typeface="Arial" panose="020B0604020202020204" pitchFamily="34" charset="0"/>
              </a:rPr>
              <a:t>FurEverHome</a:t>
            </a:r>
            <a:r>
              <a:rPr lang="en-US" dirty="0">
                <a:latin typeface="Arial" panose="020B0604020202020204" pitchFamily="34" charset="0"/>
                <a:cs typeface="Arial" panose="020B0604020202020204" pitchFamily="34" charset="0"/>
              </a:rPr>
              <a:t> – A Pet Adoption Website. Her encouragement and constructive feedback played a vital role in shaping our ideas and bringing this project to life.</a:t>
            </a:r>
          </a:p>
          <a:p>
            <a:pPr algn="just"/>
            <a:r>
              <a:rPr lang="en-US" dirty="0">
                <a:latin typeface="Arial" panose="020B0604020202020204" pitchFamily="34" charset="0"/>
                <a:cs typeface="Arial" panose="020B0604020202020204" pitchFamily="34" charset="0"/>
              </a:rPr>
              <a:t>We are also deeply thankful to </a:t>
            </a:r>
            <a:r>
              <a:rPr lang="en-US" b="1" dirty="0" err="1">
                <a:latin typeface="Arial" panose="020B0604020202020204" pitchFamily="34" charset="0"/>
                <a:cs typeface="Arial" panose="020B0604020202020204" pitchFamily="34" charset="0"/>
              </a:rPr>
              <a:t>Marwadi</a:t>
            </a:r>
            <a:r>
              <a:rPr lang="en-US" b="1" dirty="0">
                <a:latin typeface="Arial" panose="020B0604020202020204" pitchFamily="34" charset="0"/>
                <a:cs typeface="Arial" panose="020B0604020202020204" pitchFamily="34" charset="0"/>
              </a:rPr>
              <a:t> University</a:t>
            </a:r>
            <a:r>
              <a:rPr lang="en-US" dirty="0">
                <a:latin typeface="Arial" panose="020B0604020202020204" pitchFamily="34" charset="0"/>
                <a:cs typeface="Arial" panose="020B0604020202020204" pitchFamily="34" charset="0"/>
              </a:rPr>
              <a:t> for providing us with an excellent learning environment, technical resources, and continuous motivation that helped us explore a real-world problem and work toward a meaningful solution. This opportunity has enhanced our understanding of community-driven platforms and the importance of animal welfare in society.</a:t>
            </a:r>
          </a:p>
          <a:p>
            <a:pPr algn="just"/>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5151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79600" y="467459"/>
            <a:ext cx="9207500" cy="1231106"/>
          </a:xfrm>
          <a:prstGeom prst="rect">
            <a:avLst/>
          </a:prstGeom>
          <a:noFill/>
        </p:spPr>
        <p:txBody>
          <a:bodyPr wrap="square" rtlCol="0">
            <a:spAutoFit/>
          </a:bodyPr>
          <a:lstStyle/>
          <a:p>
            <a:pPr algn="ctr"/>
            <a:r>
              <a:rPr lang="en-US" sz="2800" b="1" dirty="0"/>
              <a:t>OBJECTIVES</a:t>
            </a:r>
          </a:p>
          <a:p>
            <a:pPr marL="457200" indent="-457200" algn="just">
              <a:buAutoNum type="arabicPeriod"/>
            </a:pPr>
            <a:endParaRPr lang="en-US" sz="2400" dirty="0"/>
          </a:p>
          <a:p>
            <a:pPr marL="457200" indent="-457200" algn="just">
              <a:buAutoNum type="arabicPeriod"/>
            </a:pPr>
            <a:endParaRPr lang="en-US" sz="2200" dirty="0"/>
          </a:p>
        </p:txBody>
      </p:sp>
      <p:sp>
        <p:nvSpPr>
          <p:cNvPr id="3" name="Rectangle 1">
            <a:extLst>
              <a:ext uri="{FF2B5EF4-FFF2-40B4-BE49-F238E27FC236}">
                <a16:creationId xmlns:a16="http://schemas.microsoft.com/office/drawing/2014/main" id="{AD0E9755-3D19-5D29-ED39-201F7A490F25}"/>
              </a:ext>
            </a:extLst>
          </p:cNvPr>
          <p:cNvSpPr>
            <a:spLocks noChangeArrowheads="1"/>
          </p:cNvSpPr>
          <p:nvPr/>
        </p:nvSpPr>
        <p:spPr bwMode="auto">
          <a:xfrm>
            <a:off x="1758950" y="1950014"/>
            <a:ext cx="908304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To integrate multiple features including pet listings, NGO coordination, lost &amp; found pet tracking, and service provider directories (especially in Rajkot).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To enable role-based access and interactions through User, NGO, and Admin panels with secure login and control.</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To develop an intuitive and responsive web platform named </a:t>
            </a:r>
            <a:r>
              <a:rPr kumimoji="0" lang="en-US" altLang="en-US" sz="2000" b="0" i="1" u="none" strike="noStrike" cap="none" normalizeH="0" baseline="0" dirty="0" err="1">
                <a:ln>
                  <a:noFill/>
                </a:ln>
                <a:solidFill>
                  <a:schemeClr val="tx1"/>
                </a:solidFill>
                <a:effectLst/>
                <a:latin typeface="Arial" panose="020B0604020202020204" pitchFamily="34" charset="0"/>
              </a:rPr>
              <a:t>FurEver</a:t>
            </a:r>
            <a:r>
              <a:rPr kumimoji="0" lang="en-US" altLang="en-US" sz="2000" b="0" i="1" u="none" strike="noStrike" cap="none" normalizeH="0" baseline="0" dirty="0">
                <a:ln>
                  <a:noFill/>
                </a:ln>
                <a:solidFill>
                  <a:schemeClr val="tx1"/>
                </a:solidFill>
                <a:effectLst/>
                <a:latin typeface="Arial" panose="020B0604020202020204" pitchFamily="34" charset="0"/>
              </a:rPr>
              <a:t> Home</a:t>
            </a:r>
            <a:r>
              <a:rPr kumimoji="0" lang="en-US" altLang="en-US" sz="2000" b="0" i="0" u="none" strike="noStrike" cap="none" normalizeH="0" baseline="0" dirty="0">
                <a:ln>
                  <a:noFill/>
                </a:ln>
                <a:solidFill>
                  <a:schemeClr val="tx1"/>
                </a:solidFill>
                <a:effectLst/>
                <a:latin typeface="Arial" panose="020B0604020202020204" pitchFamily="34" charset="0"/>
              </a:rPr>
              <a:t> to facilitate pet adoption in a structured and humane manner.</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To raise awareness about animal health issues and promote responsible pet ownership through informative and interactive content.</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Arial" panose="020B0604020202020204" pitchFamily="34" charset="0"/>
              </a:rPr>
              <a:t>To create a scalable and maintainable system that can be used by local communities, shelters, and individuals.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0155" y="623266"/>
            <a:ext cx="9067800" cy="1415772"/>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  PROBLEMS</a:t>
            </a:r>
          </a:p>
          <a:p>
            <a:pPr>
              <a:lnSpc>
                <a:spcPct val="150000"/>
              </a:lnSpc>
            </a:pPr>
            <a:endParaRPr lang="en-US" sz="2400" b="1" dirty="0">
              <a:latin typeface="Arial" panose="020B0604020202020204" pitchFamily="34" charset="0"/>
              <a:cs typeface="Arial" panose="020B0604020202020204" pitchFamily="34" charset="0"/>
            </a:endParaRPr>
          </a:p>
          <a:p>
            <a:endParaRPr lang="en-US" sz="2200" dirty="0">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23251239-0789-421C-011D-EFFC281A8426}"/>
              </a:ext>
            </a:extLst>
          </p:cNvPr>
          <p:cNvSpPr>
            <a:spLocks noChangeArrowheads="1"/>
          </p:cNvSpPr>
          <p:nvPr/>
        </p:nvSpPr>
        <p:spPr bwMode="auto">
          <a:xfrm>
            <a:off x="1567542" y="-6890472"/>
            <a:ext cx="10385461" cy="11541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24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Pet adoption in Rajkot is mostly offline and time-consuming.</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Users cannot easily find pets or get complete details.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NGOs face difficulty managing pet records manually.</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No proper system for tracking adoption requests.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Communication between users, NGOs, and admin is unorganized.</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400" b="0" i="0" u="none" strike="noStrike" cap="none" normalizeH="0" baseline="0" dirty="0">
                <a:ln>
                  <a:noFill/>
                </a:ln>
                <a:solidFill>
                  <a:schemeClr val="tx1"/>
                </a:solidFill>
                <a:effectLst/>
                <a:latin typeface="Arial" panose="020B0604020202020204" pitchFamily="34" charset="0"/>
              </a:rPr>
              <a:t>Lack of a centralized platform reduces transparency.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B18032E-6B39-5044-82EA-C5B4BF84D6CA}"/>
              </a:ext>
            </a:extLst>
          </p:cNvPr>
          <p:cNvSpPr>
            <a:spLocks noGrp="1"/>
          </p:cNvSpPr>
          <p:nvPr>
            <p:ph type="title"/>
          </p:nvPr>
        </p:nvSpPr>
        <p:spPr>
          <a:xfrm>
            <a:off x="1513046" y="229107"/>
            <a:ext cx="10018713" cy="1752599"/>
          </a:xfrm>
        </p:spPr>
        <p:txBody>
          <a:bodyPr>
            <a:normAutofit/>
          </a:bodyPr>
          <a:lstStyle/>
          <a:p>
            <a:r>
              <a:rPr lang="en-US" sz="2800" b="1" dirty="0">
                <a:latin typeface="Arial" panose="020B0604020202020204" pitchFamily="34" charset="0"/>
                <a:cs typeface="Arial" panose="020B0604020202020204" pitchFamily="34" charset="0"/>
              </a:rPr>
              <a:t>METHODS</a:t>
            </a:r>
            <a:r>
              <a:rPr lang="en-US" sz="2400" b="1" dirty="0">
                <a:latin typeface="Arial" panose="020B0604020202020204" pitchFamily="34" charset="0"/>
                <a:cs typeface="Arial" panose="020B0604020202020204" pitchFamily="34" charset="0"/>
              </a:rPr>
              <a:t> </a:t>
            </a:r>
            <a:endParaRPr lang="en-IN" sz="2400" b="1" dirty="0">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E4FF532B-F6F8-FAD9-DA30-8813FA2FA293}"/>
              </a:ext>
            </a:extLst>
          </p:cNvPr>
          <p:cNvSpPr>
            <a:spLocks noGrp="1" noChangeArrowheads="1"/>
          </p:cNvSpPr>
          <p:nvPr>
            <p:ph idx="1"/>
          </p:nvPr>
        </p:nvSpPr>
        <p:spPr bwMode="auto">
          <a:xfrm>
            <a:off x="1513046" y="2192422"/>
            <a:ext cx="1061749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Developed a web-based adoption system with User, NGO, and Admin panels.</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Used HTML, CSS, Bootstrap for a clean and responsive interface.</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Implemented PHP and MySQL for backend logic and database handling.</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Added OTP-based email verification for secure user registration.</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Provided pet listings with filters for species, breed, age, and city.</a:t>
            </a:r>
          </a:p>
          <a:p>
            <a:pPr marL="457200" marR="0" lvl="0" indent="-45720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chemeClr val="tx1"/>
                </a:solidFill>
                <a:effectLst/>
                <a:latin typeface="Arial" panose="020B0604020202020204" pitchFamily="34" charset="0"/>
              </a:rPr>
              <a:t>Enabled NGOs to manage pet data and Admin to control approvals and activities.</a:t>
            </a:r>
          </a:p>
        </p:txBody>
      </p:sp>
    </p:spTree>
    <p:extLst>
      <p:ext uri="{BB962C8B-B14F-4D97-AF65-F5344CB8AC3E}">
        <p14:creationId xmlns:p14="http://schemas.microsoft.com/office/powerpoint/2010/main" val="3646905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B5327-902E-514E-B3FC-C90FE596C863}"/>
              </a:ext>
            </a:extLst>
          </p:cNvPr>
          <p:cNvSpPr>
            <a:spLocks noGrp="1"/>
          </p:cNvSpPr>
          <p:nvPr>
            <p:ph type="title"/>
          </p:nvPr>
        </p:nvSpPr>
        <p:spPr>
          <a:xfrm>
            <a:off x="1484309" y="97972"/>
            <a:ext cx="10018713" cy="1752599"/>
          </a:xfrm>
        </p:spPr>
        <p:txBody>
          <a:bodyPr>
            <a:normAutofit/>
          </a:bodyPr>
          <a:lstStyle/>
          <a:p>
            <a:r>
              <a:rPr lang="en-US" sz="2800" b="1" dirty="0">
                <a:latin typeface="Arial" panose="020B0604020202020204" pitchFamily="34" charset="0"/>
                <a:cs typeface="Arial" panose="020B0604020202020204" pitchFamily="34" charset="0"/>
              </a:rPr>
              <a:t>RESULTS</a:t>
            </a:r>
            <a:endParaRPr lang="en-IN"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0F9C210-99A9-386E-3B49-B9F04A533F21}"/>
              </a:ext>
            </a:extLst>
          </p:cNvPr>
          <p:cNvSpPr>
            <a:spLocks noGrp="1"/>
          </p:cNvSpPr>
          <p:nvPr>
            <p:ph idx="1"/>
          </p:nvPr>
        </p:nvSpPr>
        <p:spPr>
          <a:xfrm>
            <a:off x="1484309" y="2256452"/>
            <a:ext cx="10018713" cy="3124201"/>
          </a:xfrm>
        </p:spPr>
        <p:txBody>
          <a:bodyPr/>
          <a:lstStyle/>
          <a:p>
            <a:pPr marL="457200" indent="-457200">
              <a:buClr>
                <a:schemeClr val="tx1"/>
              </a:buClr>
              <a:buSzPct val="125000"/>
              <a:buFont typeface="+mj-lt"/>
              <a:buAutoNum type="arabicPeriod"/>
            </a:pPr>
            <a:r>
              <a:rPr lang="en-US" dirty="0">
                <a:latin typeface="Arial" panose="020B0604020202020204" pitchFamily="34" charset="0"/>
                <a:cs typeface="Arial" panose="020B0604020202020204" pitchFamily="34" charset="0"/>
              </a:rPr>
              <a:t>Adoption process becomes simple, quick, and fully digital.</a:t>
            </a:r>
          </a:p>
          <a:p>
            <a:pPr marL="457200" indent="-457200">
              <a:buClr>
                <a:schemeClr val="tx1"/>
              </a:buClr>
              <a:buSzPct val="125000"/>
              <a:buFont typeface="+mj-lt"/>
              <a:buAutoNum type="arabicPeriod"/>
            </a:pPr>
            <a:r>
              <a:rPr lang="en-US" dirty="0">
                <a:latin typeface="Arial" panose="020B0604020202020204" pitchFamily="34" charset="0"/>
                <a:cs typeface="Arial" panose="020B0604020202020204" pitchFamily="34" charset="0"/>
              </a:rPr>
              <a:t>Users can easily search pets and track their adoption requests.</a:t>
            </a:r>
          </a:p>
          <a:p>
            <a:pPr marL="457200" indent="-457200" algn="just">
              <a:buClr>
                <a:schemeClr val="tx1"/>
              </a:buClr>
              <a:buSzPct val="125000"/>
              <a:buFont typeface="+mj-lt"/>
              <a:buAutoNum type="arabicPeriod"/>
            </a:pPr>
            <a:r>
              <a:rPr lang="en-US" dirty="0">
                <a:latin typeface="Arial" panose="020B0604020202020204" pitchFamily="34" charset="0"/>
                <a:cs typeface="Arial" panose="020B0604020202020204" pitchFamily="34" charset="0"/>
              </a:rPr>
              <a:t>NGOs can smoothly manage pet listings and updates.</a:t>
            </a:r>
          </a:p>
          <a:p>
            <a:pPr marL="457200" indent="-457200">
              <a:buClr>
                <a:schemeClr val="tx1"/>
              </a:buClr>
              <a:buSzPct val="125000"/>
              <a:buFont typeface="+mj-lt"/>
              <a:buAutoNum type="arabicPeriod"/>
            </a:pPr>
            <a:r>
              <a:rPr lang="en-US" dirty="0">
                <a:latin typeface="Arial" panose="020B0604020202020204" pitchFamily="34" charset="0"/>
                <a:cs typeface="Arial" panose="020B0604020202020204" pitchFamily="34" charset="0"/>
              </a:rPr>
              <a:t>Admin gets a clear view of all system activities.</a:t>
            </a:r>
          </a:p>
          <a:p>
            <a:pPr marL="457200" indent="-457200">
              <a:buClr>
                <a:schemeClr val="tx1"/>
              </a:buClr>
              <a:buSzPct val="125000"/>
              <a:buFont typeface="+mj-lt"/>
              <a:buAutoNum type="arabicPeriod"/>
            </a:pPr>
            <a:r>
              <a:rPr lang="en-US" dirty="0">
                <a:latin typeface="Arial" panose="020B0604020202020204" pitchFamily="34" charset="0"/>
                <a:cs typeface="Arial" panose="020B0604020202020204" pitchFamily="34" charset="0"/>
              </a:rPr>
              <a:t>Transparency and communication among all parties improves.</a:t>
            </a:r>
          </a:p>
          <a:p>
            <a:pPr marL="457200" indent="-457200">
              <a:buClr>
                <a:schemeClr val="tx1"/>
              </a:buClr>
              <a:buSzPct val="125000"/>
              <a:buFont typeface="+mj-lt"/>
              <a:buAutoNum type="arabicPeriod"/>
            </a:pPr>
            <a:r>
              <a:rPr lang="en-US" dirty="0">
                <a:latin typeface="Arial" panose="020B0604020202020204" pitchFamily="34" charset="0"/>
                <a:cs typeface="Arial" panose="020B0604020202020204" pitchFamily="34" charset="0"/>
              </a:rPr>
              <a:t>Encourages responsible and organized pet adoption in Rajkot.</a:t>
            </a:r>
          </a:p>
          <a:p>
            <a:pPr marL="457200" indent="-457200">
              <a:buClr>
                <a:schemeClr val="tx1"/>
              </a:buClr>
              <a:buSzPct val="125000"/>
              <a:buFont typeface="+mj-lt"/>
              <a:buAutoNum type="arabicPeriod"/>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01767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3E1010-7908-C5AF-2BF5-A070A89E0029}"/>
              </a:ext>
            </a:extLst>
          </p:cNvPr>
          <p:cNvSpPr txBox="1"/>
          <p:nvPr/>
        </p:nvSpPr>
        <p:spPr>
          <a:xfrm>
            <a:off x="3690517" y="18308"/>
            <a:ext cx="6097554" cy="523220"/>
          </a:xfrm>
          <a:prstGeom prst="rect">
            <a:avLst/>
          </a:prstGeom>
          <a:noFill/>
        </p:spPr>
        <p:txBody>
          <a:bodyPr wrap="square">
            <a:spAutoFit/>
          </a:bodyPr>
          <a:lstStyle/>
          <a:p>
            <a:pPr algn="ctr"/>
            <a:r>
              <a:rPr lang="en-US" sz="2800" b="1" dirty="0">
                <a:latin typeface="Arial" panose="020B0604020202020204" pitchFamily="34" charset="0"/>
                <a:cs typeface="Arial" panose="020B0604020202020204" pitchFamily="34" charset="0"/>
              </a:rPr>
              <a:t>SYSTEM DESIGN(DIAGRAMS) </a:t>
            </a:r>
          </a:p>
        </p:txBody>
      </p:sp>
      <p:sp>
        <p:nvSpPr>
          <p:cNvPr id="9" name="TextBox 8">
            <a:extLst>
              <a:ext uri="{FF2B5EF4-FFF2-40B4-BE49-F238E27FC236}">
                <a16:creationId xmlns:a16="http://schemas.microsoft.com/office/drawing/2014/main" id="{4F47FB5E-0A17-60CB-095C-BA9068996F01}"/>
              </a:ext>
            </a:extLst>
          </p:cNvPr>
          <p:cNvSpPr txBox="1"/>
          <p:nvPr/>
        </p:nvSpPr>
        <p:spPr>
          <a:xfrm>
            <a:off x="3047223" y="674279"/>
            <a:ext cx="6097554" cy="369332"/>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                            </a:t>
            </a:r>
            <a:r>
              <a:rPr lang="en-IN" sz="1800" dirty="0">
                <a:effectLst/>
                <a:latin typeface="Arial" panose="020B0604020202020204" pitchFamily="34" charset="0"/>
                <a:ea typeface="Calibri" panose="020F0502020204030204" pitchFamily="34" charset="0"/>
                <a:cs typeface="Arial" panose="020B0604020202020204" pitchFamily="34" charset="0"/>
              </a:rPr>
              <a:t>Figure 1.1 Use Case Diagram</a:t>
            </a:r>
            <a:endParaRPr lang="en-IN"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8E718F7-909D-E6E1-04AA-327052D39A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2457" y="1176363"/>
            <a:ext cx="5493674" cy="54795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9702FC-FB6D-A57E-965A-EADB6C4049CB}"/>
              </a:ext>
            </a:extLst>
          </p:cNvPr>
          <p:cNvSpPr txBox="1"/>
          <p:nvPr/>
        </p:nvSpPr>
        <p:spPr>
          <a:xfrm>
            <a:off x="5120640" y="0"/>
            <a:ext cx="7224537" cy="463397"/>
          </a:xfrm>
          <a:prstGeom prst="rect">
            <a:avLst/>
          </a:prstGeom>
          <a:noFill/>
        </p:spPr>
        <p:txBody>
          <a:bodyPr wrap="square">
            <a:spAutoFit/>
          </a:bodyPr>
          <a:lstStyle/>
          <a:p>
            <a:pPr marL="228600">
              <a:lnSpc>
                <a:spcPct val="150000"/>
              </a:lnSpc>
              <a:spcAft>
                <a:spcPts val="1000"/>
              </a:spcAft>
            </a:pPr>
            <a:r>
              <a:rPr lang="en-IN" sz="1800" dirty="0">
                <a:effectLst/>
                <a:latin typeface="Times New Roman" panose="02020603050405020304" pitchFamily="18" charset="0"/>
                <a:ea typeface="Calibri" panose="020F0502020204030204" pitchFamily="34" charset="0"/>
                <a:cs typeface="Shruti" panose="020B0502040204020203" pitchFamily="34" charset="0"/>
              </a:rPr>
              <a:t>Figure 1.2 E.R. Diagram</a:t>
            </a:r>
            <a:endParaRPr lang="en-IN" sz="1600" dirty="0">
              <a:effectLst/>
              <a:latin typeface="Calibri" panose="020F0502020204030204" pitchFamily="34" charset="0"/>
              <a:ea typeface="Calibri" panose="020F0502020204030204" pitchFamily="34" charset="0"/>
              <a:cs typeface="Shruti" panose="020B0502040204020203" pitchFamily="34" charset="0"/>
            </a:endParaRPr>
          </a:p>
        </p:txBody>
      </p:sp>
      <p:pic>
        <p:nvPicPr>
          <p:cNvPr id="4" name="Picture 3">
            <a:extLst>
              <a:ext uri="{FF2B5EF4-FFF2-40B4-BE49-F238E27FC236}">
                <a16:creationId xmlns:a16="http://schemas.microsoft.com/office/drawing/2014/main" id="{297AA269-286D-742D-C78B-870076B230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6041" y="471968"/>
            <a:ext cx="9468566" cy="5766324"/>
          </a:xfrm>
          <a:prstGeom prst="rect">
            <a:avLst/>
          </a:prstGeom>
        </p:spPr>
      </p:pic>
    </p:spTree>
    <p:extLst>
      <p:ext uri="{BB962C8B-B14F-4D97-AF65-F5344CB8AC3E}">
        <p14:creationId xmlns:p14="http://schemas.microsoft.com/office/powerpoint/2010/main" val="222224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9CC69B-93E2-2D15-F0EF-BA80B98FA992}"/>
              </a:ext>
            </a:extLst>
          </p:cNvPr>
          <p:cNvSpPr txBox="1"/>
          <p:nvPr/>
        </p:nvSpPr>
        <p:spPr>
          <a:xfrm>
            <a:off x="4416162" y="230920"/>
            <a:ext cx="7921240" cy="369332"/>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Figure 1.3.1 </a:t>
            </a:r>
            <a:r>
              <a:rPr lang="en-IN" dirty="0">
                <a:latin typeface="Times New Roman" panose="02020603050405020304" pitchFamily="18" charset="0"/>
                <a:ea typeface="Calibri" panose="020F0502020204030204" pitchFamily="34" charset="0"/>
              </a:rPr>
              <a:t>user</a:t>
            </a:r>
            <a:r>
              <a:rPr lang="en-IN" sz="1800" dirty="0">
                <a:effectLst/>
                <a:latin typeface="Times New Roman" panose="02020603050405020304" pitchFamily="18" charset="0"/>
                <a:ea typeface="Calibri" panose="020F0502020204030204" pitchFamily="34" charset="0"/>
              </a:rPr>
              <a:t> Activity Diagram </a:t>
            </a:r>
            <a:endParaRPr lang="en-IN" dirty="0"/>
          </a:p>
        </p:txBody>
      </p:sp>
      <p:pic>
        <p:nvPicPr>
          <p:cNvPr id="4" name="Picture 3">
            <a:extLst>
              <a:ext uri="{FF2B5EF4-FFF2-40B4-BE49-F238E27FC236}">
                <a16:creationId xmlns:a16="http://schemas.microsoft.com/office/drawing/2014/main" id="{72A6B08B-3348-460E-622B-A4EA1216C15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18640" y="823439"/>
            <a:ext cx="3754720" cy="5803641"/>
          </a:xfrm>
          <a:prstGeom prst="rect">
            <a:avLst/>
          </a:prstGeom>
        </p:spPr>
      </p:pic>
    </p:spTree>
    <p:extLst>
      <p:ext uri="{BB962C8B-B14F-4D97-AF65-F5344CB8AC3E}">
        <p14:creationId xmlns:p14="http://schemas.microsoft.com/office/powerpoint/2010/main" val="3448149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80A8108-EF3A-0E64-8BCF-82B626CBA2A9}"/>
              </a:ext>
            </a:extLst>
          </p:cNvPr>
          <p:cNvSpPr txBox="1"/>
          <p:nvPr/>
        </p:nvSpPr>
        <p:spPr>
          <a:xfrm>
            <a:off x="4354361" y="216551"/>
            <a:ext cx="8225637" cy="369332"/>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Figure 1.3.2 Ngo Activity Diagram </a:t>
            </a:r>
            <a:endParaRPr lang="en-IN" dirty="0"/>
          </a:p>
        </p:txBody>
      </p:sp>
      <p:pic>
        <p:nvPicPr>
          <p:cNvPr id="6" name="Picture 5">
            <a:extLst>
              <a:ext uri="{FF2B5EF4-FFF2-40B4-BE49-F238E27FC236}">
                <a16:creationId xmlns:a16="http://schemas.microsoft.com/office/drawing/2014/main" id="{0455C2DF-5C2B-8984-3BC7-34FF0584895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05329" y="840100"/>
            <a:ext cx="4181341" cy="5177799"/>
          </a:xfrm>
          <a:prstGeom prst="rect">
            <a:avLst/>
          </a:prstGeom>
        </p:spPr>
      </p:pic>
    </p:spTree>
    <p:extLst>
      <p:ext uri="{BB962C8B-B14F-4D97-AF65-F5344CB8AC3E}">
        <p14:creationId xmlns:p14="http://schemas.microsoft.com/office/powerpoint/2010/main" val="830745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7DF688-B99B-7352-45BE-254789F800BA}"/>
              </a:ext>
            </a:extLst>
          </p:cNvPr>
          <p:cNvSpPr txBox="1"/>
          <p:nvPr/>
        </p:nvSpPr>
        <p:spPr>
          <a:xfrm>
            <a:off x="4192555" y="181335"/>
            <a:ext cx="7309446" cy="369332"/>
          </a:xfrm>
          <a:prstGeom prst="rect">
            <a:avLst/>
          </a:prstGeom>
          <a:noFill/>
        </p:spPr>
        <p:txBody>
          <a:bodyPr wrap="square">
            <a:spAutoFit/>
          </a:bodyPr>
          <a:lstStyle/>
          <a:p>
            <a:r>
              <a:rPr lang="en-IN" sz="1800" dirty="0">
                <a:effectLst/>
                <a:latin typeface="Times New Roman" panose="02020603050405020304" pitchFamily="18" charset="0"/>
                <a:ea typeface="Calibri" panose="020F0502020204030204" pitchFamily="34" charset="0"/>
              </a:rPr>
              <a:t>Figure 1.3.3 </a:t>
            </a:r>
            <a:r>
              <a:rPr lang="en-IN" dirty="0">
                <a:latin typeface="Times New Roman" panose="02020603050405020304" pitchFamily="18" charset="0"/>
                <a:ea typeface="Calibri" panose="020F0502020204030204" pitchFamily="34" charset="0"/>
              </a:rPr>
              <a:t>Admin</a:t>
            </a:r>
            <a:r>
              <a:rPr lang="en-IN" sz="1800" dirty="0">
                <a:effectLst/>
                <a:latin typeface="Times New Roman" panose="02020603050405020304" pitchFamily="18" charset="0"/>
                <a:ea typeface="Calibri" panose="020F0502020204030204" pitchFamily="34" charset="0"/>
              </a:rPr>
              <a:t> Activity Diagram </a:t>
            </a:r>
            <a:endParaRPr lang="en-IN" dirty="0"/>
          </a:p>
        </p:txBody>
      </p:sp>
      <p:pic>
        <p:nvPicPr>
          <p:cNvPr id="2" name="Picture 1">
            <a:extLst>
              <a:ext uri="{FF2B5EF4-FFF2-40B4-BE49-F238E27FC236}">
                <a16:creationId xmlns:a16="http://schemas.microsoft.com/office/drawing/2014/main" id="{DA82535E-7D16-D1BB-A7DC-F15EC0624EE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672133" y="785258"/>
            <a:ext cx="4847734" cy="5706741"/>
          </a:xfrm>
          <a:prstGeom prst="rect">
            <a:avLst/>
          </a:prstGeom>
        </p:spPr>
      </p:pic>
    </p:spTree>
    <p:extLst>
      <p:ext uri="{BB962C8B-B14F-4D97-AF65-F5344CB8AC3E}">
        <p14:creationId xmlns:p14="http://schemas.microsoft.com/office/powerpoint/2010/main" val="4274599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D4C6A2-9ED6-7027-9187-EF9D9EF0166D}"/>
              </a:ext>
            </a:extLst>
          </p:cNvPr>
          <p:cNvSpPr txBox="1"/>
          <p:nvPr/>
        </p:nvSpPr>
        <p:spPr>
          <a:xfrm>
            <a:off x="4726332" y="197889"/>
            <a:ext cx="4875980" cy="369332"/>
          </a:xfrm>
          <a:prstGeom prst="rect">
            <a:avLst/>
          </a:prstGeom>
          <a:noFill/>
        </p:spPr>
        <p:txBody>
          <a:bodyPr wrap="square" rtlCol="0">
            <a:spAutoFit/>
          </a:bodyPr>
          <a:lstStyle/>
          <a:p>
            <a:r>
              <a:rPr lang="en-IN" dirty="0"/>
              <a:t>Figure 1.4 Sequence Diagram</a:t>
            </a:r>
          </a:p>
        </p:txBody>
      </p:sp>
      <p:pic>
        <p:nvPicPr>
          <p:cNvPr id="4" name="Picture 3">
            <a:extLst>
              <a:ext uri="{FF2B5EF4-FFF2-40B4-BE49-F238E27FC236}">
                <a16:creationId xmlns:a16="http://schemas.microsoft.com/office/drawing/2014/main" id="{62EAC009-BF29-70F8-DE44-9D7009DD3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4131" y="694887"/>
            <a:ext cx="4568981" cy="6032483"/>
          </a:xfrm>
          <a:prstGeom prst="rect">
            <a:avLst/>
          </a:prstGeom>
        </p:spPr>
      </p:pic>
    </p:spTree>
    <p:extLst>
      <p:ext uri="{BB962C8B-B14F-4D97-AF65-F5344CB8AC3E}">
        <p14:creationId xmlns:p14="http://schemas.microsoft.com/office/powerpoint/2010/main" val="3174352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EB37905-A5D2-50AA-D589-84A5F6860C11}"/>
              </a:ext>
            </a:extLst>
          </p:cNvPr>
          <p:cNvSpPr txBox="1"/>
          <p:nvPr/>
        </p:nvSpPr>
        <p:spPr>
          <a:xfrm>
            <a:off x="5354140" y="461326"/>
            <a:ext cx="7200000" cy="369332"/>
          </a:xfrm>
          <a:prstGeom prst="rect">
            <a:avLst/>
          </a:prstGeom>
          <a:noFill/>
        </p:spPr>
        <p:txBody>
          <a:bodyPr wrap="square" rtlCol="0">
            <a:spAutoFit/>
          </a:bodyPr>
          <a:lstStyle/>
          <a:p>
            <a:r>
              <a:rPr lang="en-US" dirty="0"/>
              <a:t>Figure 1.5 DFD Diagram (Level 0)</a:t>
            </a:r>
            <a:endParaRPr lang="en-IN" dirty="0"/>
          </a:p>
        </p:txBody>
      </p:sp>
      <p:pic>
        <p:nvPicPr>
          <p:cNvPr id="5" name="Picture 4">
            <a:extLst>
              <a:ext uri="{FF2B5EF4-FFF2-40B4-BE49-F238E27FC236}">
                <a16:creationId xmlns:a16="http://schemas.microsoft.com/office/drawing/2014/main" id="{3769B27D-6BDB-03BC-2099-9D7025CC23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9884" y="2305050"/>
            <a:ext cx="7439025" cy="2247900"/>
          </a:xfrm>
          <a:prstGeom prst="rect">
            <a:avLst/>
          </a:prstGeom>
        </p:spPr>
      </p:pic>
    </p:spTree>
    <p:extLst>
      <p:ext uri="{BB962C8B-B14F-4D97-AF65-F5344CB8AC3E}">
        <p14:creationId xmlns:p14="http://schemas.microsoft.com/office/powerpoint/2010/main" val="1311038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7E385-80DC-290D-7EFA-985EDC2F17C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1C1131-C6F3-DD52-8853-C417D7AC76E9}"/>
              </a:ext>
            </a:extLst>
          </p:cNvPr>
          <p:cNvSpPr txBox="1"/>
          <p:nvPr/>
        </p:nvSpPr>
        <p:spPr>
          <a:xfrm>
            <a:off x="4309112" y="191919"/>
            <a:ext cx="7200000" cy="369332"/>
          </a:xfrm>
          <a:prstGeom prst="rect">
            <a:avLst/>
          </a:prstGeom>
          <a:noFill/>
        </p:spPr>
        <p:txBody>
          <a:bodyPr wrap="square" rtlCol="0">
            <a:spAutoFit/>
          </a:bodyPr>
          <a:lstStyle/>
          <a:p>
            <a:r>
              <a:rPr lang="en-US" dirty="0"/>
              <a:t>Figure 1.6 DFD Diagram (Level 1)</a:t>
            </a:r>
            <a:endParaRPr lang="en-IN" dirty="0"/>
          </a:p>
        </p:txBody>
      </p:sp>
      <p:pic>
        <p:nvPicPr>
          <p:cNvPr id="5" name="Picture 4">
            <a:extLst>
              <a:ext uri="{FF2B5EF4-FFF2-40B4-BE49-F238E27FC236}">
                <a16:creationId xmlns:a16="http://schemas.microsoft.com/office/drawing/2014/main" id="{99327E50-78D2-7835-1F26-B811D0908D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0387" y="746682"/>
            <a:ext cx="6971225" cy="5919399"/>
          </a:xfrm>
          <a:prstGeom prst="rect">
            <a:avLst/>
          </a:prstGeom>
        </p:spPr>
      </p:pic>
    </p:spTree>
    <p:extLst>
      <p:ext uri="{BB962C8B-B14F-4D97-AF65-F5344CB8AC3E}">
        <p14:creationId xmlns:p14="http://schemas.microsoft.com/office/powerpoint/2010/main" val="1739367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05DBCD9-DD0F-7AFF-8CBB-CFDF9E3415E9}"/>
              </a:ext>
            </a:extLst>
          </p:cNvPr>
          <p:cNvSpPr txBox="1"/>
          <p:nvPr/>
        </p:nvSpPr>
        <p:spPr>
          <a:xfrm>
            <a:off x="4934650" y="379500"/>
            <a:ext cx="9692640" cy="369332"/>
          </a:xfrm>
          <a:prstGeom prst="rect">
            <a:avLst/>
          </a:prstGeom>
          <a:noFill/>
        </p:spPr>
        <p:txBody>
          <a:bodyPr wrap="square" rtlCol="0">
            <a:spAutoFit/>
          </a:bodyPr>
          <a:lstStyle/>
          <a:p>
            <a:r>
              <a:rPr lang="en-US" dirty="0"/>
              <a:t>Figure 1.7 Admin Panel </a:t>
            </a:r>
            <a:r>
              <a:rPr lang="en-US" dirty="0" err="1"/>
              <a:t>Dfd</a:t>
            </a:r>
            <a:r>
              <a:rPr lang="en-US" dirty="0"/>
              <a:t> (Level 2)</a:t>
            </a:r>
            <a:endParaRPr lang="en-IN" dirty="0"/>
          </a:p>
        </p:txBody>
      </p:sp>
      <p:pic>
        <p:nvPicPr>
          <p:cNvPr id="5" name="Picture 4">
            <a:extLst>
              <a:ext uri="{FF2B5EF4-FFF2-40B4-BE49-F238E27FC236}">
                <a16:creationId xmlns:a16="http://schemas.microsoft.com/office/drawing/2014/main" id="{EC22BFDF-1EEE-DBF4-D0D8-70CFC2D8AA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849" y="1220853"/>
            <a:ext cx="9934575" cy="4416294"/>
          </a:xfrm>
          <a:prstGeom prst="rect">
            <a:avLst/>
          </a:prstGeom>
        </p:spPr>
      </p:pic>
    </p:spTree>
    <p:extLst>
      <p:ext uri="{BB962C8B-B14F-4D97-AF65-F5344CB8AC3E}">
        <p14:creationId xmlns:p14="http://schemas.microsoft.com/office/powerpoint/2010/main" val="603322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F085DC-4319-ED6C-37D0-3979AACF24D0}"/>
              </a:ext>
            </a:extLst>
          </p:cNvPr>
          <p:cNvSpPr txBox="1"/>
          <p:nvPr/>
        </p:nvSpPr>
        <p:spPr>
          <a:xfrm>
            <a:off x="4765735" y="223520"/>
            <a:ext cx="7762996" cy="369332"/>
          </a:xfrm>
          <a:prstGeom prst="rect">
            <a:avLst/>
          </a:prstGeom>
          <a:noFill/>
        </p:spPr>
        <p:txBody>
          <a:bodyPr wrap="square" rtlCol="0">
            <a:spAutoFit/>
          </a:bodyPr>
          <a:lstStyle/>
          <a:p>
            <a:r>
              <a:rPr lang="en-IN" dirty="0"/>
              <a:t>Figure 1.8 Class Diagram</a:t>
            </a:r>
          </a:p>
        </p:txBody>
      </p:sp>
      <p:pic>
        <p:nvPicPr>
          <p:cNvPr id="5" name="Picture 4">
            <a:extLst>
              <a:ext uri="{FF2B5EF4-FFF2-40B4-BE49-F238E27FC236}">
                <a16:creationId xmlns:a16="http://schemas.microsoft.com/office/drawing/2014/main" id="{11B96D78-9F25-EBBB-E8DB-663CD414D7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7176" y="736655"/>
            <a:ext cx="6742978" cy="5589499"/>
          </a:xfrm>
          <a:prstGeom prst="rect">
            <a:avLst/>
          </a:prstGeom>
        </p:spPr>
      </p:pic>
    </p:spTree>
    <p:extLst>
      <p:ext uri="{BB962C8B-B14F-4D97-AF65-F5344CB8AC3E}">
        <p14:creationId xmlns:p14="http://schemas.microsoft.com/office/powerpoint/2010/main" val="842725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CC69819-8E7F-E06F-9B90-FE8BB46FF8B6}"/>
              </a:ext>
            </a:extLst>
          </p:cNvPr>
          <p:cNvSpPr txBox="1"/>
          <p:nvPr/>
        </p:nvSpPr>
        <p:spPr>
          <a:xfrm>
            <a:off x="5070624" y="138082"/>
            <a:ext cx="6317284" cy="369332"/>
          </a:xfrm>
          <a:prstGeom prst="rect">
            <a:avLst/>
          </a:prstGeom>
          <a:noFill/>
        </p:spPr>
        <p:txBody>
          <a:bodyPr wrap="square" rtlCol="0">
            <a:spAutoFit/>
          </a:bodyPr>
          <a:lstStyle/>
          <a:p>
            <a:r>
              <a:rPr lang="en-IN" dirty="0"/>
              <a:t>Figure 1.9  Flowchart</a:t>
            </a:r>
          </a:p>
        </p:txBody>
      </p:sp>
      <p:pic>
        <p:nvPicPr>
          <p:cNvPr id="3" name="Picture 2">
            <a:extLst>
              <a:ext uri="{FF2B5EF4-FFF2-40B4-BE49-F238E27FC236}">
                <a16:creationId xmlns:a16="http://schemas.microsoft.com/office/drawing/2014/main" id="{77F79E0E-E048-1F1F-F2B4-4FBD263D5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8329" y="765572"/>
            <a:ext cx="5595342" cy="5954346"/>
          </a:xfrm>
          <a:prstGeom prst="rect">
            <a:avLst/>
          </a:prstGeom>
        </p:spPr>
      </p:pic>
    </p:spTree>
    <p:extLst>
      <p:ext uri="{BB962C8B-B14F-4D97-AF65-F5344CB8AC3E}">
        <p14:creationId xmlns:p14="http://schemas.microsoft.com/office/powerpoint/2010/main" val="2145444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70100" y="457200"/>
            <a:ext cx="8839200" cy="5790496"/>
          </a:xfrm>
          <a:prstGeom prst="rect">
            <a:avLst/>
          </a:prstGeom>
          <a:noFill/>
        </p:spPr>
        <p:txBody>
          <a:bodyPr wrap="square" rtlCol="0">
            <a:spAutoFit/>
          </a:bodyPr>
          <a:lstStyle/>
          <a:p>
            <a:pPr algn="just"/>
            <a:r>
              <a:rPr lang="en-US" sz="2800" b="1" dirty="0"/>
              <a:t>                                             CONCLUSION</a:t>
            </a:r>
          </a:p>
          <a:p>
            <a:pPr algn="just"/>
            <a:endParaRPr lang="en-US" sz="2200" dirty="0"/>
          </a:p>
          <a:p>
            <a:pPr algn="just">
              <a:lnSpc>
                <a:spcPct val="150000"/>
              </a:lnSpc>
              <a:buFont typeface="Arial" pitchFamily="34" charset="0"/>
              <a:buChar char="•"/>
            </a:pPr>
            <a:r>
              <a:rPr lang="en-US" sz="2400" dirty="0" err="1"/>
              <a:t>FurEver</a:t>
            </a:r>
            <a:r>
              <a:rPr lang="en-US" sz="2400" dirty="0"/>
              <a:t> (Rajkot) successfully transforms the traditional pet adoption process into a digital, organized, and user-friendly system. By bringing users, NGOs, and administrators onto one platform, the website improves communication, transparency, and efficiency. The system makes pet browsing and adoption easier for users, helps NGOs manage pets more effectively, and allows the admin to maintain full control of operations. Overall, </a:t>
            </a:r>
            <a:r>
              <a:rPr lang="en-US" sz="2400" dirty="0" err="1"/>
              <a:t>FurEver</a:t>
            </a:r>
            <a:r>
              <a:rPr lang="en-US" sz="2400" dirty="0"/>
              <a:t> promotes responsible pet adoption, supports animal welfare, and provides a reliable solution for the community of Rajkot.</a:t>
            </a:r>
            <a:endParaRPr lang="en-US" sz="22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documentManagement/types"/>
    <ds:schemaRef ds:uri="http://schemas.microsoft.com/office/2006/metadata/properties"/>
    <ds:schemaRef ds:uri="http://purl.org/dc/terms/"/>
    <ds:schemaRef ds:uri="230e9df3-be65-4c73-a93b-d1236ebd677e"/>
    <ds:schemaRef ds:uri="http://schemas.microsoft.com/office/infopath/2007/PartnerControls"/>
    <ds:schemaRef ds:uri="16c05727-aa75-4e4a-9b5f-8a80a1165891"/>
    <ds:schemaRef ds:uri="http://www.w3.org/XML/1998/namespace"/>
    <ds:schemaRef ds:uri="http://schemas.openxmlformats.org/package/2006/metadata/core-properties"/>
    <ds:schemaRef ds:uri="http://schemas.microsoft.com/sharepoint/v3"/>
    <ds:schemaRef ds:uri="71af3243-3dd4-4a8d-8c0d-dd76da1f02a5"/>
    <ds:schemaRef ds:uri="http://purl.org/dc/dcmitype/"/>
    <ds:schemaRef ds:uri="http://purl.org/dc/elements/1.1/"/>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TM03457496[[fn=Parallax]]</Template>
  <TotalTime>846</TotalTime>
  <Words>656</Words>
  <Application>Microsoft Office PowerPoint</Application>
  <PresentationFormat>Widescreen</PresentationFormat>
  <Paragraphs>93</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Corbel</vt:lpstr>
      <vt:lpstr>Times New Roman</vt:lpstr>
      <vt:lpstr>Wingdings</vt:lpstr>
      <vt:lpstr>Parallax</vt:lpstr>
      <vt:lpstr>PROJECT TITLE  FUREVERHOME – A PET ADOPTION WEBSITE </vt:lpstr>
      <vt:lpstr>PowerPoint Presentation</vt:lpstr>
      <vt:lpstr>Acknowledgment</vt:lpstr>
      <vt:lpstr>PowerPoint Presentation</vt:lpstr>
      <vt:lpstr>PowerPoint Presentation</vt:lpstr>
      <vt:lpstr>METHODS </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smit popat</dc:creator>
  <cp:lastModifiedBy>krinal thacker</cp:lastModifiedBy>
  <cp:revision>25</cp:revision>
  <dcterms:created xsi:type="dcterms:W3CDTF">2025-07-28T08:57:34Z</dcterms:created>
  <dcterms:modified xsi:type="dcterms:W3CDTF">2026-01-09T18:58:09Z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